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52400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1pPr>
    <a:lvl2pPr marL="0" marR="0" indent="4572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2pPr>
    <a:lvl3pPr marL="0" marR="0" indent="9144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3pPr>
    <a:lvl4pPr marL="0" marR="0" indent="13716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4pPr>
    <a:lvl5pPr marL="0" marR="0" indent="18288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5pPr>
    <a:lvl6pPr marL="0" marR="0" indent="22860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6pPr>
    <a:lvl7pPr marL="0" marR="0" indent="27432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7pPr>
    <a:lvl8pPr marL="0" marR="0" indent="32004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8pPr>
    <a:lvl9pPr marL="0" marR="0" indent="36576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The optical Tweezers was first demonstrated by Arthur Askin in 1986.</a:t>
            </a:r>
          </a:p>
          <a:p>
            <a:pPr/>
          </a:p>
          <a:p>
            <a:pPr/>
            <a:r>
              <a:t>Since the discovery and demonstration of this technique, it has been an essential tool in the experimental biophysics research field, with the application such as,</a:t>
            </a:r>
          </a:p>
          <a:p>
            <a:pPr marL="391159" indent="-391159">
              <a:buSzPct val="100000"/>
              <a:buAutoNum type="arabicPeriod" startAt="1"/>
            </a:pPr>
            <a:r>
              <a:t>Using it to understand the Elasticity of the DNA</a:t>
            </a:r>
          </a:p>
          <a:p>
            <a:pPr marL="391159" indent="-391159">
              <a:buSzPct val="100000"/>
              <a:buAutoNum type="arabicPeriod" startAt="1"/>
            </a:pPr>
            <a:r>
              <a:t>Stepping of the molecular motors</a:t>
            </a:r>
          </a:p>
          <a:p>
            <a:pPr/>
          </a:p>
          <a:p>
            <a:pPr/>
            <a:r>
              <a:t>How this tweezers works is </a:t>
            </a:r>
          </a:p>
          <a:p>
            <a:pPr/>
            <a:r>
              <a:t>When a dielectric particle with refractive index greater than the surrounding</a:t>
            </a:r>
          </a:p>
          <a:p>
            <a:pPr/>
            <a:r>
              <a:t>medium is placed near the focus of a laser beam, the intensity gradient (or the change of momentum) induces a restoring force directed toward the focal point, forming a stable three-dimensional trap.</a:t>
            </a:r>
          </a:p>
          <a:p>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defRPr sz="1900"/>
            </a:pPr>
            <a:r>
              <a:t>The trapping laser is a 658 nm, 75 mW diode laser, whose beam is directed through two laser-line mirrors designed to reflect light in a narrow band around 633 nm. </a:t>
            </a:r>
          </a:p>
          <a:p>
            <a:pPr>
              <a:defRPr sz="1900"/>
            </a:pPr>
            <a:r>
              <a:t>Between the two mirrors, a convex lens mounted on a sliding rail expands the beam diameter to fill the back focal plane of the microscope objective, maximizing the trapping force.</a:t>
            </a:r>
          </a:p>
          <a:p>
            <a:pPr>
              <a:defRPr sz="1900"/>
            </a:pPr>
            <a:r>
              <a:t>The expanded beam is then focused by a high numerical aperture oil-immersion objective into the flow cell to form the optical trap. </a:t>
            </a:r>
          </a:p>
          <a:p>
            <a:pPr>
              <a:defRPr sz="1900"/>
            </a:pPr>
            <a:r>
              <a:t>Imaging was performed by a CCD camera positioned behind adichroic mirror, illuminated by a blue LED placed on the opposite side of the flow cell.</a:t>
            </a:r>
          </a:p>
          <a:p>
            <a:pPr>
              <a:defRPr sz="1900"/>
            </a:pPr>
          </a:p>
          <a:p>
            <a:pPr>
              <a:defRPr sz="1900"/>
            </a:pPr>
            <a:r>
              <a:t>The flow cell consists of a Plexiglas spacer with two glass cover slips bonded to each side, forming a sealed chamber with an input and output tube. </a:t>
            </a:r>
          </a:p>
          <a:p>
            <a:pPr>
              <a:defRPr sz="1900"/>
            </a:pPr>
            <a:r>
              <a:t>Prior to mounting, the cell was filled with deionized water and inspected to ensure all air bubbles were removed from the tubing and valve system. </a:t>
            </a:r>
          </a:p>
          <a:p>
            <a:pPr>
              <a:defRPr sz="1900"/>
            </a:pPr>
            <a:r>
              <a:t>A drop of immersion oil was applied between the objective and the cell to satisfy the optical requirements of the oil-immersion objective.</a:t>
            </a:r>
          </a:p>
          <a:p>
            <a:pPr>
              <a:defRPr sz="1900"/>
            </a:pPr>
            <a:r>
              <a:t>The flow rate of liquid through the cell was controlled by a syringe pump, which allowed precise adjustment of the volumetric flow rate.</a:t>
            </a:r>
          </a:p>
          <a:p>
            <a:pPr>
              <a:defRPr sz="1900"/>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The trapped particles were polystyrene microspheres with a diameter of 4.16 ±0.21 µm and index of refraction n= 1.50, suspended in deionized water (n= 1.33).</a:t>
            </a:r>
          </a:p>
          <a:p>
            <a:pPr/>
            <a:r>
              <a:t>The refractive index contrast between the bead and the surrounding medium is the physical origin of the trapping gradient force. A small volume of bead solution was introduced into the flow cell once the optical trap was confirmed to be positioned inside the cell.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Video files were analyzed using Python with multiple video analysis libraries. Each frame was</a:t>
            </a:r>
          </a:p>
          <a:p>
            <a:pPr/>
            <a:r>
              <a:t>converted to grayscale and a region of interest (ROI) spanning rows 240–270 was selected to isolate the bead.</a:t>
            </a:r>
          </a:p>
          <a:p>
            <a:pPr/>
            <a:r>
              <a:t>The pixel-to-physical-unit scale was calibrated by measuring the bead diameter in pixels from an intensity profile and applying:</a:t>
            </a:r>
          </a:p>
          <a:p>
            <a:pPr/>
            <a:r>
              <a:t>pixel size = 4.16 µm (bead width)/pixels</a:t>
            </a:r>
          </a:p>
          <a:p>
            <a:pPr/>
            <a:r>
              <a:t>Bead position in each frame was determined by locating the peak of a Gaussian-smoothed (σ = 5 pixels) inten-sity profile. Outliers in the position time series were re-</a:t>
            </a:r>
          </a:p>
          <a:p>
            <a:pPr/>
            <a:r>
              <a:t>moved using Z-score thresholding (threshold: 2σ), with</a:t>
            </a:r>
          </a:p>
          <a:p>
            <a:pPr/>
            <a:r>
              <a:t>outlier values replaced by the series median. The range</a:t>
            </a:r>
          </a:p>
          <a:p>
            <a:pPr/>
            <a:r>
              <a:t>of motion of the trapped bead was computed as the dif-</a:t>
            </a:r>
          </a:p>
          <a:p>
            <a:pPr/>
            <a:r>
              <a:t>ference between the maximum and minimum positions in</a:t>
            </a:r>
          </a:p>
          <a:p>
            <a:pPr/>
            <a:r>
              <a:t>the cleaned time series. For freely flowing beads, veloc-</a:t>
            </a:r>
          </a:p>
          <a:p>
            <a:pPr/>
            <a:r>
              <a:t>ity was computed by tracking the bead centroid across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p>
            <a:pPr/>
            <a:r>
              <a:t>The calibration procedure was as follows: An intensity profile was extracted from a single row within the selected region of interest. </a:t>
            </a:r>
          </a:p>
          <a:p>
            <a:pPr/>
            <a:r>
              <a:t>The background intensity level was determined as the 25th percentile of the intensity</a:t>
            </a:r>
          </a:p>
          <a:p>
            <a:pPr/>
            <a:r>
              <a:t>distribution. </a:t>
            </a:r>
          </a:p>
          <a:p>
            <a:pPr/>
            <a:r>
              <a:t>A threshold intensity was set at 50% of the distance between background and peak intensity. Pixels exceeding this threshold were identified as part of the bead.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The position of peak intensity in this profile represents the center position of the trapped</a:t>
            </a:r>
          </a:p>
          <a:p>
            <a:pPr/>
            <a:r>
              <a:t>bead. To improve the precision of peak detection and reduce noise, each raw intensity profile was smoothed using a Gaussian filter with standard deviation σ = 5 pixels before finding the maximum. The maximum intensity position was recorded for each frame, yielding a time series of bead positions with one measurement per frame (30 Hz sampling rate)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The raw position time series typically contained spurious outliers caused by noise and temporary loss of bead tracking. Several outlier removal methods were tested: (1) median filtering, (2) interquartile range (IQR) method, (3) Z-score thresholding.</a:t>
            </a:r>
          </a:p>
          <a:p>
            <a:pPr/>
          </a:p>
          <a:p>
            <a:pPr/>
            <a:r>
              <a:t>The Z-score method was selected for the primary analysis due to its robust statistical basis. In this method, points more than 2 standard deviations away from the mean were identified as outliers. Outlier values were replaced with the median of the position time series to preserve the time series length while removing erratic measurements. This approach effectively removed spike artifacts while maintaining the overall motion characteristics of the trapped bead.</a:t>
            </a:r>
          </a:p>
          <a:p>
            <a:pPr/>
          </a:p>
          <a:p>
            <a:pPr/>
            <a:r>
              <a:t>The displacement values were converted from pixels to micrometers using the calibrated pixel scale.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Velocity need to be calculated from the position time series as the time derivative of position. To obtain smooth velocity estimates and accurate derivatives, a Savitzky-Golay filter was applied to the cleaned position data with a window length of 46 frames (~1.5 seconds) and polynomial order 3. </a:t>
            </a:r>
          </a:p>
          <a:p>
            <a:pPr/>
            <a:r>
              <a:t>This filter simultaneously smooths the data and enables accurate computation of the first derivative, yielding the instantaneous velocity at each time point. </a:t>
            </a:r>
          </a:p>
          <a:p>
            <a:pPr/>
            <a:r>
              <a:t>The resulting velocity time series represents the flow velocity experienced by the trapped bead and is proportional to the syringe pump flow rate setting.</a:t>
            </a:r>
          </a:p>
          <a:p>
            <a:pPr/>
            <a:r>
              <a:t>The negative velocity minima in the derived velocity curve were identified as the points of maximum flow resistance or beam intensity modulation.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The Savitzky-Golay filter is how we extract smooth velocity from noisy position data. The idea is simple — instead of averaging neighboring points, which would blur out real features, we slide a window of fixed width across the time series and fit a low-order polynomial locally at each position. </a:t>
            </a:r>
          </a:p>
          <a:p>
            <a:pPr/>
            <a:r>
              <a:t>The center value of that fitted polynomial replaces the raw data point. In our case we used a window of 46 frames — about 1.5 seconds — with a cubic polynomial. </a:t>
            </a:r>
          </a:p>
          <a:p>
            <a:pPr/>
            <a:r>
              <a:t>The key advantage here is that because we already have a polynomial fit, we can analytically differentiate it to get velocity directly, without a separate noisy finite-difference step. </a:t>
            </a:r>
          </a:p>
          <a:p>
            <a:pPr/>
            <a:r>
              <a:t>The two parameters you tune are the window length — larger means smoother but you lose temporal resolution — and the polynomial order — higher order preserves sharper features but risks overfitting noise. </a:t>
            </a:r>
          </a:p>
          <a:p>
            <a:pPr/>
            <a:r>
              <a:t>Our choice of 3 order with a 1.5-second window was a balance: smooth enough to suppress camera noise, but fast enough to still resolve the velocity extrema corresponding to each flow rate change.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This linear relationship indicates that the trap follows Hooke's law over the measured range of displacements. The scatter in the data, reflected in 1 sigma error band shown in red, is consistent with measurement uncertainties in both position determination from pixel analysis and flow velocity estimation.</a:t>
            </a:r>
          </a:p>
          <a:p>
            <a:pPr/>
          </a:p>
          <a:p>
            <a:pPr/>
            <a:r>
              <a:t>The displacement measurements as a function of flow rate are presented in the left. Mean bead displacement increased with flow rate from approximately 0.7 um at 25 uL/min to 2.0 um at higher flow rates, demonstrating that larger flow-induced forces push the bead further from the trap center.</a:t>
            </a:r>
          </a:p>
          <a:p>
            <a:pPr/>
            <a:r>
              <a:t>At the highest flow rates tested (around 140 μL/min), the displacement approached 2 μm, indicating that the trapping force was approaching its maximum capability before bead escape became probable.</a:t>
            </a:r>
          </a:p>
          <a:p>
            <a:pPr/>
          </a:p>
          <a:p>
            <a:pPr/>
            <a:r>
              <a:t>The drag force as a function of flow rate is shown in the bottom right. The mean drag force increased from approximately 0.025 pN at the lowest flow rate to a maximum of approximately 0.065~pN at 60 uL/min, followed by a slight decrease and stabilization at higher flow rates. </a:t>
            </a:r>
          </a:p>
          <a:p>
            <a:pPr/>
            <a:r>
              <a:t>The maximum drag force measured corresponds to the approximate maximum trapping force that can be sustained before bead escape occurs, setting the upper limit of forces measurable with this optical tweezers configuration.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816100" y="8657488"/>
            <a:ext cx="11607801" cy="461060"/>
          </a:xfrm>
          <a:prstGeom prst="rect">
            <a:avLst/>
          </a:prstGeom>
        </p:spPr>
        <p:txBody>
          <a:bodyPr anchor="b"/>
          <a:lstStyle>
            <a:lvl1pPr marL="0" indent="0" defTabSz="563541">
              <a:lnSpc>
                <a:spcPct val="100000"/>
              </a:lnSpc>
              <a:spcBef>
                <a:spcPts val="0"/>
              </a:spcBef>
              <a:buSzTx/>
              <a:buNone/>
              <a:defRPr b="1" sz="2304"/>
            </a:lvl1pPr>
          </a:lstStyle>
          <a:p>
            <a:pPr/>
            <a:r>
              <a:t>Author and Date</a:t>
            </a:r>
          </a:p>
        </p:txBody>
      </p:sp>
      <p:sp>
        <p:nvSpPr>
          <p:cNvPr id="12" name="Presentation Title"/>
          <p:cNvSpPr txBox="1"/>
          <p:nvPr>
            <p:ph type="title" hasCustomPrompt="1"/>
          </p:nvPr>
        </p:nvSpPr>
        <p:spPr>
          <a:xfrm>
            <a:off x="1816100" y="1854200"/>
            <a:ext cx="11609057" cy="3302000"/>
          </a:xfrm>
          <a:prstGeom prst="rect">
            <a:avLst/>
          </a:prstGeom>
        </p:spPr>
        <p:txBody>
          <a:bodyPr anchor="b"/>
          <a:lstStyle>
            <a:lvl1pPr>
              <a:defRPr spc="-164" sz="8200"/>
            </a:lvl1pPr>
          </a:lstStyle>
          <a:p>
            <a:pPr/>
            <a:r>
              <a:t>Presentation Title</a:t>
            </a:r>
          </a:p>
        </p:txBody>
      </p:sp>
      <p:sp>
        <p:nvSpPr>
          <p:cNvPr id="13" name="Body Level One…"/>
          <p:cNvSpPr txBox="1"/>
          <p:nvPr>
            <p:ph type="body" sz="quarter" idx="1" hasCustomPrompt="1"/>
          </p:nvPr>
        </p:nvSpPr>
        <p:spPr>
          <a:xfrm>
            <a:off x="1816100" y="5105400"/>
            <a:ext cx="11607800" cy="145639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7478115" y="9232544"/>
            <a:ext cx="283770" cy="27513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740833" y="-915894"/>
            <a:ext cx="17835652" cy="10682195"/>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816100" y="5181600"/>
            <a:ext cx="11607800" cy="3302000"/>
          </a:xfrm>
          <a:prstGeom prst="rect">
            <a:avLst/>
          </a:prstGeom>
        </p:spPr>
        <p:txBody>
          <a:bodyPr anchor="b"/>
          <a:lstStyle>
            <a:lvl1pPr>
              <a:defRPr spc="-164" sz="8200"/>
            </a:lvl1pPr>
          </a:lstStyle>
          <a:p>
            <a:pPr/>
            <a:r>
              <a:t>Presentation Title</a:t>
            </a:r>
          </a:p>
        </p:txBody>
      </p:sp>
      <p:sp>
        <p:nvSpPr>
          <p:cNvPr id="23" name="Body Level One…"/>
          <p:cNvSpPr txBox="1"/>
          <p:nvPr>
            <p:ph type="body" sz="quarter" idx="1" hasCustomPrompt="1"/>
          </p:nvPr>
        </p:nvSpPr>
        <p:spPr>
          <a:xfrm>
            <a:off x="1816100" y="8432800"/>
            <a:ext cx="11607800" cy="68976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1816100" y="571500"/>
            <a:ext cx="11607801" cy="461059"/>
          </a:xfrm>
          <a:prstGeom prst="rect">
            <a:avLst/>
          </a:prstGeom>
        </p:spPr>
        <p:txBody>
          <a:bodyPr/>
          <a:lstStyle>
            <a:lvl1pPr marL="0" indent="0" defTabSz="563541">
              <a:lnSpc>
                <a:spcPct val="100000"/>
              </a:lnSpc>
              <a:spcBef>
                <a:spcPts val="0"/>
              </a:spcBef>
              <a:buSzTx/>
              <a:buNone/>
              <a:defRPr b="1" sz="2304"/>
            </a:lvl1pPr>
          </a:lstStyle>
          <a:p>
            <a:pPr/>
            <a:r>
              <a:t>Author and Date</a:t>
            </a:r>
          </a:p>
        </p:txBody>
      </p:sp>
      <p:sp>
        <p:nvSpPr>
          <p:cNvPr id="25" name="Slide Number"/>
          <p:cNvSpPr txBox="1"/>
          <p:nvPr>
            <p:ph type="sldNum" sz="quarter" idx="2"/>
          </p:nvPr>
        </p:nvSpPr>
        <p:spPr>
          <a:xfrm>
            <a:off x="7474661" y="9232544"/>
            <a:ext cx="283770" cy="27513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
          <p:cNvSpPr/>
          <p:nvPr>
            <p:ph type="pic" idx="21"/>
          </p:nvPr>
        </p:nvSpPr>
        <p:spPr>
          <a:xfrm>
            <a:off x="6436729" y="495299"/>
            <a:ext cx="7543801" cy="8780059"/>
          </a:xfrm>
          <a:prstGeom prst="rect">
            <a:avLst/>
          </a:prstGeom>
        </p:spPr>
        <p:txBody>
          <a:bodyPr lIns="91439" tIns="45719" rIns="91439" bIns="45719">
            <a:noAutofit/>
          </a:bodyPr>
          <a:lstStyle/>
          <a:p>
            <a:pPr/>
          </a:p>
        </p:txBody>
      </p:sp>
      <p:sp>
        <p:nvSpPr>
          <p:cNvPr id="33" name="Body Level One…"/>
          <p:cNvSpPr txBox="1"/>
          <p:nvPr>
            <p:ph type="body" sz="quarter" idx="1" hasCustomPrompt="1"/>
          </p:nvPr>
        </p:nvSpPr>
        <p:spPr>
          <a:xfrm>
            <a:off x="1816100" y="5003800"/>
            <a:ext cx="5105400" cy="4044566"/>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Slide Subtitle</a:t>
            </a:r>
          </a:p>
          <a:p>
            <a:pPr lvl="1"/>
            <a:r>
              <a:t/>
            </a:r>
          </a:p>
          <a:p>
            <a:pPr lvl="2"/>
            <a:r>
              <a:t/>
            </a:r>
          </a:p>
          <a:p>
            <a:pPr lvl="3"/>
            <a:r>
              <a:t/>
            </a:r>
          </a:p>
          <a:p>
            <a:pPr lvl="4"/>
            <a:r>
              <a:t/>
            </a:r>
          </a:p>
        </p:txBody>
      </p:sp>
      <p:sp>
        <p:nvSpPr>
          <p:cNvPr id="34" name="Slide Title"/>
          <p:cNvSpPr txBox="1"/>
          <p:nvPr>
            <p:ph type="title" hasCustomPrompt="1"/>
          </p:nvPr>
        </p:nvSpPr>
        <p:spPr>
          <a:xfrm>
            <a:off x="1816100" y="692534"/>
            <a:ext cx="5105400" cy="4387466"/>
          </a:xfrm>
          <a:prstGeom prst="rect">
            <a:avLst/>
          </a:prstGeom>
        </p:spPr>
        <p:txBody>
          <a:bodyPr anchor="b"/>
          <a:lstStyle/>
          <a:p>
            <a:pPr/>
            <a:r>
              <a:t>Slide Title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3" name="Slide Subtitle"/>
          <p:cNvSpPr txBox="1"/>
          <p:nvPr>
            <p:ph type="body" sz="quarter" idx="21" hasCustomPrompt="1"/>
          </p:nvPr>
        </p:nvSpPr>
        <p:spPr>
          <a:xfrm>
            <a:off x="18161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44" name="Slide Title"/>
          <p:cNvSpPr txBox="1"/>
          <p:nvPr>
            <p:ph type="title" hasCustomPrompt="1"/>
          </p:nvPr>
        </p:nvSpPr>
        <p:spPr>
          <a:prstGeom prst="rect">
            <a:avLst/>
          </a:prstGeom>
        </p:spPr>
        <p:txBody>
          <a:bodyPr/>
          <a:lstStyle/>
          <a:p>
            <a:pPr/>
            <a:r>
              <a:t>Slide 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589358"/>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p:nvPr>
            <p:ph type="pic" sz="half" idx="21"/>
          </p:nvPr>
        </p:nvSpPr>
        <p:spPr>
          <a:xfrm>
            <a:off x="7289800" y="596900"/>
            <a:ext cx="6448425" cy="8597900"/>
          </a:xfrm>
          <a:prstGeom prst="rect">
            <a:avLst/>
          </a:prstGeom>
        </p:spPr>
        <p:txBody>
          <a:bodyPr lIns="91439" tIns="45719" rIns="91439" bIns="45719">
            <a:noAutofit/>
          </a:bodyPr>
          <a:lstStyle/>
          <a:p>
            <a:pPr/>
          </a:p>
        </p:txBody>
      </p:sp>
      <p:sp>
        <p:nvSpPr>
          <p:cNvPr id="61" name="Slide Title"/>
          <p:cNvSpPr txBox="1"/>
          <p:nvPr>
            <p:ph type="title" hasCustomPrompt="1"/>
          </p:nvPr>
        </p:nvSpPr>
        <p:spPr>
          <a:xfrm>
            <a:off x="1816100" y="444500"/>
            <a:ext cx="5105400" cy="1016000"/>
          </a:xfrm>
          <a:prstGeom prst="rect">
            <a:avLst/>
          </a:prstGeom>
        </p:spPr>
        <p:txBody>
          <a:bodyPr/>
          <a:lstStyle/>
          <a:p>
            <a:pPr/>
            <a:r>
              <a:t>Slide Title</a:t>
            </a:r>
          </a:p>
        </p:txBody>
      </p:sp>
      <p:sp>
        <p:nvSpPr>
          <p:cNvPr id="62" name="Slide Subtitle"/>
          <p:cNvSpPr txBox="1"/>
          <p:nvPr>
            <p:ph type="body" sz="quarter" idx="22" hasCustomPrompt="1"/>
          </p:nvPr>
        </p:nvSpPr>
        <p:spPr>
          <a:xfrm>
            <a:off x="18161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63" name="Body Level One…"/>
          <p:cNvSpPr txBox="1"/>
          <p:nvPr>
            <p:ph type="body" sz="quarter" idx="1" hasCustomPrompt="1"/>
          </p:nvPr>
        </p:nvSpPr>
        <p:spPr>
          <a:xfrm>
            <a:off x="18161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816100" y="444500"/>
            <a:ext cx="5105400" cy="1016000"/>
          </a:xfrm>
          <a:prstGeom prst="rect">
            <a:avLst/>
          </a:prstGeom>
        </p:spPr>
        <p:txBody>
          <a:bodyPr/>
          <a:lstStyle/>
          <a:p>
            <a:pPr/>
            <a:r>
              <a:t>Slide Title</a:t>
            </a:r>
          </a:p>
        </p:txBody>
      </p:sp>
      <p:sp>
        <p:nvSpPr>
          <p:cNvPr id="72" name="Slide Subtitle"/>
          <p:cNvSpPr txBox="1"/>
          <p:nvPr>
            <p:ph type="body" sz="quarter" idx="21" hasCustomPrompt="1"/>
          </p:nvPr>
        </p:nvSpPr>
        <p:spPr>
          <a:xfrm>
            <a:off x="18161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73" name="Body Level One…"/>
          <p:cNvSpPr txBox="1"/>
          <p:nvPr>
            <p:ph type="body" sz="quarter" idx="1" hasCustomPrompt="1"/>
          </p:nvPr>
        </p:nvSpPr>
        <p:spPr>
          <a:xfrm>
            <a:off x="18161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816100" y="444500"/>
            <a:ext cx="5105400" cy="1016000"/>
          </a:xfrm>
          <a:prstGeom prst="rect">
            <a:avLst/>
          </a:prstGeom>
        </p:spPr>
        <p:txBody>
          <a:bodyPr/>
          <a:lstStyle/>
          <a:p>
            <a:pPr/>
            <a:r>
              <a:t>Slide Title</a:t>
            </a:r>
          </a:p>
        </p:txBody>
      </p:sp>
      <p:sp>
        <p:nvSpPr>
          <p:cNvPr id="82" name="Slide Subtitle"/>
          <p:cNvSpPr txBox="1"/>
          <p:nvPr>
            <p:ph type="body" sz="quarter" idx="21" hasCustomPrompt="1"/>
          </p:nvPr>
        </p:nvSpPr>
        <p:spPr>
          <a:xfrm>
            <a:off x="18161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83" name="Body Level One…"/>
          <p:cNvSpPr txBox="1"/>
          <p:nvPr>
            <p:ph type="body" sz="quarter" idx="1" hasCustomPrompt="1"/>
          </p:nvPr>
        </p:nvSpPr>
        <p:spPr>
          <a:xfrm>
            <a:off x="18161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816100" y="3225800"/>
            <a:ext cx="11607800" cy="3302000"/>
          </a:xfrm>
          <a:prstGeom prst="rect">
            <a:avLst/>
          </a:prstGeom>
        </p:spPr>
        <p:txBody>
          <a:bodyPr anchor="ctr"/>
          <a:lstStyle>
            <a:lvl1pPr>
              <a:defRPr b="0" spc="-164" sz="82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18161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816100" y="444500"/>
            <a:ext cx="11607800" cy="1016000"/>
          </a:xfrm>
          <a:prstGeom prst="rect">
            <a:avLst/>
          </a:prstGeom>
        </p:spPr>
        <p:txBody>
          <a:bodyPr/>
          <a:lstStyle/>
          <a:p>
            <a:pPr/>
            <a:r>
              <a:t>Agenda Title</a:t>
            </a:r>
          </a:p>
        </p:txBody>
      </p:sp>
      <p:sp>
        <p:nvSpPr>
          <p:cNvPr id="109" name="Agenda Subtitle"/>
          <p:cNvSpPr txBox="1"/>
          <p:nvPr>
            <p:ph type="body" sz="quarter" idx="21" hasCustomPrompt="1"/>
          </p:nvPr>
        </p:nvSpPr>
        <p:spPr>
          <a:xfrm>
            <a:off x="1816100" y="1409700"/>
            <a:ext cx="11607801" cy="671802"/>
          </a:xfrm>
          <a:prstGeom prst="rect">
            <a:avLst/>
          </a:prstGeom>
        </p:spPr>
        <p:txBody>
          <a:bodyPr/>
          <a:lstStyle>
            <a:lvl1pPr marL="0" indent="0" defTabSz="587022">
              <a:lnSpc>
                <a:spcPct val="100000"/>
              </a:lnSpc>
              <a:spcBef>
                <a:spcPts val="0"/>
              </a:spcBef>
              <a:buSzTx/>
              <a:buNone/>
              <a:defRPr b="1" sz="38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a:spcBef>
                <a:spcPts val="1300"/>
              </a:spcBef>
              <a:buSzTx/>
              <a:buNone/>
              <a:defRPr spc="-38" sz="3800"/>
            </a:lvl1pPr>
            <a:lvl2pPr marL="0" indent="457200">
              <a:spcBef>
                <a:spcPts val="1300"/>
              </a:spcBef>
              <a:buSzTx/>
              <a:buNone/>
              <a:defRPr spc="-38" sz="3800"/>
            </a:lvl2pPr>
            <a:lvl3pPr marL="0" indent="914400">
              <a:spcBef>
                <a:spcPts val="1300"/>
              </a:spcBef>
              <a:buSzTx/>
              <a:buNone/>
              <a:defRPr spc="-38" sz="3800"/>
            </a:lvl3pPr>
            <a:lvl4pPr marL="0" indent="1371600">
              <a:spcBef>
                <a:spcPts val="1300"/>
              </a:spcBef>
              <a:buSzTx/>
              <a:buNone/>
              <a:defRPr spc="-38" sz="3800"/>
            </a:lvl4pPr>
            <a:lvl5pPr marL="0" indent="1828800">
              <a:spcBef>
                <a:spcPts val="1300"/>
              </a:spcBef>
              <a:buSzTx/>
              <a:buNone/>
              <a:defRPr spc="-38" sz="38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816100" y="3568700"/>
            <a:ext cx="11607800" cy="2617788"/>
          </a:xfrm>
          <a:prstGeom prst="rect">
            <a:avLst/>
          </a:prstGeom>
        </p:spPr>
        <p:txBody>
          <a:bodyPr anchor="ctr"/>
          <a:lstStyle>
            <a:lvl1pPr marL="0" indent="0" algn="ctr">
              <a:lnSpc>
                <a:spcPct val="80000"/>
              </a:lnSpc>
              <a:spcBef>
                <a:spcPts val="0"/>
              </a:spcBef>
              <a:buSzTx/>
              <a:buNone/>
              <a:defRPr spc="-164" sz="82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164" sz="82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164" sz="82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164" sz="82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164" sz="82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816100" y="6209979"/>
            <a:ext cx="11607800" cy="671803"/>
          </a:xfrm>
          <a:prstGeom prst="rect">
            <a:avLst/>
          </a:prstGeom>
        </p:spPr>
        <p:txBody>
          <a:bodyPr/>
          <a:lstStyle>
            <a:lvl1pPr marL="0" indent="0" algn="ctr">
              <a:lnSpc>
                <a:spcPct val="100000"/>
              </a:lnSpc>
              <a:spcBef>
                <a:spcPts val="0"/>
              </a:spcBef>
              <a:buSzTx/>
              <a:buNone/>
              <a:defRPr b="1" sz="3800"/>
            </a:lvl1pPr>
          </a:lstStyle>
          <a:p>
            <a:pPr/>
            <a:r>
              <a:t>Fact information</a:t>
            </a:r>
          </a:p>
        </p:txBody>
      </p:sp>
      <p:sp>
        <p:nvSpPr>
          <p:cNvPr id="127" name="Body Level One…"/>
          <p:cNvSpPr txBox="1"/>
          <p:nvPr>
            <p:ph type="body" idx="1" hasCustomPrompt="1"/>
          </p:nvPr>
        </p:nvSpPr>
        <p:spPr>
          <a:xfrm>
            <a:off x="1816100" y="999066"/>
            <a:ext cx="11607800" cy="5210914"/>
          </a:xfrm>
          <a:prstGeom prst="rect">
            <a:avLst/>
          </a:prstGeom>
        </p:spPr>
        <p:txBody>
          <a:bodyPr anchor="b"/>
          <a:lstStyle>
            <a:lvl1pPr marL="0" indent="0" algn="ctr">
              <a:lnSpc>
                <a:spcPct val="80000"/>
              </a:lnSpc>
              <a:spcBef>
                <a:spcPts val="0"/>
              </a:spcBef>
              <a:buSzTx/>
              <a:buNone/>
              <a:defRPr b="1" spc="-176" sz="17600"/>
            </a:lvl1pPr>
            <a:lvl2pPr marL="0" indent="457200" algn="ctr">
              <a:lnSpc>
                <a:spcPct val="80000"/>
              </a:lnSpc>
              <a:spcBef>
                <a:spcPts val="0"/>
              </a:spcBef>
              <a:buSzTx/>
              <a:buNone/>
              <a:defRPr b="1" spc="-176" sz="17600"/>
            </a:lvl2pPr>
            <a:lvl3pPr marL="0" indent="914400" algn="ctr">
              <a:lnSpc>
                <a:spcPct val="80000"/>
              </a:lnSpc>
              <a:spcBef>
                <a:spcPts val="0"/>
              </a:spcBef>
              <a:buSzTx/>
              <a:buNone/>
              <a:defRPr b="1" spc="-176" sz="17600"/>
            </a:lvl3pPr>
            <a:lvl4pPr marL="0" indent="1371600" algn="ctr">
              <a:lnSpc>
                <a:spcPct val="80000"/>
              </a:lnSpc>
              <a:spcBef>
                <a:spcPts val="0"/>
              </a:spcBef>
              <a:buSzTx/>
              <a:buNone/>
              <a:defRPr b="1" spc="-176" sz="17600"/>
            </a:lvl4pPr>
            <a:lvl5pPr marL="0" indent="1828800" algn="ctr">
              <a:lnSpc>
                <a:spcPct val="80000"/>
              </a:lnSpc>
              <a:spcBef>
                <a:spcPts val="0"/>
              </a:spcBef>
              <a:buSzTx/>
              <a:buNone/>
              <a:defRPr b="1" spc="-176" sz="176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1854200" y="3721100"/>
            <a:ext cx="11531600" cy="2324100"/>
          </a:xfrm>
          <a:prstGeom prst="rect">
            <a:avLst/>
          </a:prstGeom>
        </p:spPr>
        <p:txBody>
          <a:bodyPr anchor="ctr"/>
          <a:lstStyle>
            <a:lvl1pPr marL="457200" indent="-342900">
              <a:spcBef>
                <a:spcPts val="0"/>
              </a:spcBef>
              <a:buSzTx/>
              <a:buNone/>
              <a:defRPr spc="-119" sz="6000">
                <a:latin typeface="Helvetica Neue Medium"/>
                <a:ea typeface="Helvetica Neue Medium"/>
                <a:cs typeface="Helvetica Neue Medium"/>
                <a:sym typeface="Helvetica Neue Medium"/>
              </a:defRPr>
            </a:lvl1pPr>
            <a:lvl2pPr marL="457200" indent="114300">
              <a:spcBef>
                <a:spcPts val="0"/>
              </a:spcBef>
              <a:buSzTx/>
              <a:buNone/>
              <a:defRPr spc="-119" sz="6000">
                <a:latin typeface="Helvetica Neue Medium"/>
                <a:ea typeface="Helvetica Neue Medium"/>
                <a:cs typeface="Helvetica Neue Medium"/>
                <a:sym typeface="Helvetica Neue Medium"/>
              </a:defRPr>
            </a:lvl2pPr>
            <a:lvl3pPr marL="457200" indent="571500">
              <a:spcBef>
                <a:spcPts val="0"/>
              </a:spcBef>
              <a:buSzTx/>
              <a:buNone/>
              <a:defRPr spc="-119" sz="6000">
                <a:latin typeface="Helvetica Neue Medium"/>
                <a:ea typeface="Helvetica Neue Medium"/>
                <a:cs typeface="Helvetica Neue Medium"/>
                <a:sym typeface="Helvetica Neue Medium"/>
              </a:defRPr>
            </a:lvl3pPr>
            <a:lvl4pPr marL="457200" indent="1028700">
              <a:spcBef>
                <a:spcPts val="0"/>
              </a:spcBef>
              <a:buSzTx/>
              <a:buNone/>
              <a:defRPr spc="-119" sz="6000">
                <a:latin typeface="Helvetica Neue Medium"/>
                <a:ea typeface="Helvetica Neue Medium"/>
                <a:cs typeface="Helvetica Neue Medium"/>
                <a:sym typeface="Helvetica Neue Medium"/>
              </a:defRPr>
            </a:lvl4pPr>
            <a:lvl5pPr marL="457200" indent="1485900">
              <a:spcBef>
                <a:spcPts val="0"/>
              </a:spcBef>
              <a:buSzTx/>
              <a:buNone/>
              <a:defRPr spc="-119" sz="60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6" name="Attribution"/>
          <p:cNvSpPr txBox="1"/>
          <p:nvPr>
            <p:ph type="body" sz="quarter" idx="21" hasCustomPrompt="1"/>
          </p:nvPr>
        </p:nvSpPr>
        <p:spPr>
          <a:xfrm>
            <a:off x="2336800" y="6426200"/>
            <a:ext cx="11049000" cy="461059"/>
          </a:xfrm>
          <a:prstGeom prst="rect">
            <a:avLst/>
          </a:prstGeom>
        </p:spPr>
        <p:txBody>
          <a:bodyPr/>
          <a:lstStyle>
            <a:lvl1pPr marL="0" indent="0" defTabSz="563541">
              <a:lnSpc>
                <a:spcPct val="100000"/>
              </a:lnSpc>
              <a:spcBef>
                <a:spcPts val="0"/>
              </a:spcBef>
              <a:buSzTx/>
              <a:buNone/>
              <a:defRPr b="1" sz="2304"/>
            </a:lvl1pPr>
          </a:lstStyle>
          <a:p>
            <a:pPr/>
            <a:r>
              <a:t>Attribution</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pappardelle pasta with parsley butter, roasted hazelnuts, and shaved parmesan cheese"/>
          <p:cNvSpPr/>
          <p:nvPr>
            <p:ph type="pic" idx="21"/>
          </p:nvPr>
        </p:nvSpPr>
        <p:spPr>
          <a:xfrm>
            <a:off x="-965200" y="687558"/>
            <a:ext cx="11165190" cy="8373892"/>
          </a:xfrm>
          <a:prstGeom prst="rect">
            <a:avLst/>
          </a:prstGeom>
        </p:spPr>
        <p:txBody>
          <a:bodyPr lIns="91439" tIns="45719" rIns="91439" bIns="45719">
            <a:noAutofit/>
          </a:bodyPr>
          <a:lstStyle/>
          <a:p>
            <a:pPr/>
          </a:p>
        </p:txBody>
      </p:sp>
      <p:sp>
        <p:nvSpPr>
          <p:cNvPr id="145" name="Bowl of salad with fried rice, boiled eggs, and chopsticks"/>
          <p:cNvSpPr/>
          <p:nvPr>
            <p:ph type="pic" sz="quarter" idx="22"/>
          </p:nvPr>
        </p:nvSpPr>
        <p:spPr>
          <a:xfrm>
            <a:off x="7715250" y="292100"/>
            <a:ext cx="5740400" cy="4592321"/>
          </a:xfrm>
          <a:prstGeom prst="rect">
            <a:avLst/>
          </a:prstGeom>
        </p:spPr>
        <p:txBody>
          <a:bodyPr lIns="91439" tIns="45719" rIns="91439" bIns="45719">
            <a:noAutofit/>
          </a:bodyPr>
          <a:lstStyle/>
          <a:p>
            <a:pPr/>
          </a:p>
        </p:txBody>
      </p:sp>
      <p:sp>
        <p:nvSpPr>
          <p:cNvPr id="146" name="Bowl with salmon cakes, salad, and hummus"/>
          <p:cNvSpPr/>
          <p:nvPr>
            <p:ph type="pic" idx="23"/>
          </p:nvPr>
        </p:nvSpPr>
        <p:spPr>
          <a:xfrm>
            <a:off x="6102350" y="2749413"/>
            <a:ext cx="7937500" cy="9238277"/>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01600" y="-1054100"/>
            <a:ext cx="14427200" cy="11541760"/>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7478115" y="9232544"/>
            <a:ext cx="283770" cy="275134"/>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816100" y="2959100"/>
            <a:ext cx="11607800" cy="609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Slide Title"/>
          <p:cNvSpPr txBox="1"/>
          <p:nvPr>
            <p:ph type="title" hasCustomPrompt="1"/>
          </p:nvPr>
        </p:nvSpPr>
        <p:spPr>
          <a:xfrm>
            <a:off x="1816100" y="440266"/>
            <a:ext cx="11607800" cy="101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4" name="Slide Number"/>
          <p:cNvSpPr txBox="1"/>
          <p:nvPr>
            <p:ph type="sldNum" sz="quarter" idx="2"/>
          </p:nvPr>
        </p:nvSpPr>
        <p:spPr>
          <a:xfrm>
            <a:off x="7474728" y="9232544"/>
            <a:ext cx="283770" cy="275134"/>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1pPr>
      <a:lvl2pPr marL="0" marR="0" indent="457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2pPr>
      <a:lvl3pPr marL="0" marR="0" indent="914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3pPr>
      <a:lvl4pPr marL="0" marR="0" indent="1371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4pPr>
      <a:lvl5pPr marL="0" marR="0" indent="18288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5pPr>
      <a:lvl6pPr marL="0" marR="0" indent="22860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6pPr>
      <a:lvl7pPr marL="0" marR="0" indent="2743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7pPr>
      <a:lvl8pPr marL="0" marR="0" indent="3200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8pPr>
      <a:lvl9pPr marL="0" marR="0" indent="3657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gif"/></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emon-Elf/PHYS5318.gi"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unze Shi; April 3th, 2026…"/>
          <p:cNvSpPr txBox="1"/>
          <p:nvPr>
            <p:ph type="body" idx="21"/>
          </p:nvPr>
        </p:nvSpPr>
        <p:spPr>
          <a:xfrm>
            <a:off x="1815471" y="6793006"/>
            <a:ext cx="11607802" cy="1715968"/>
          </a:xfrm>
          <a:prstGeom prst="rect">
            <a:avLst/>
          </a:prstGeom>
          <a:extLst>
            <a:ext uri="{C572A759-6A51-4108-AA02-DFA0A04FC94B}">
              <ma14:wrappingTextBoxFlag xmlns:ma14="http://schemas.microsoft.com/office/mac/drawingml/2011/main" val="1"/>
            </a:ext>
          </a:extLst>
        </p:spPr>
        <p:txBody>
          <a:bodyPr/>
          <a:lstStyle/>
          <a:p>
            <a:pPr defTabSz="587022">
              <a:defRPr sz="2400"/>
            </a:pPr>
            <a:r>
              <a:t>Runze Shi; April 3th, 2026</a:t>
            </a:r>
          </a:p>
          <a:p>
            <a:pPr defTabSz="587022">
              <a:defRPr sz="2400"/>
            </a:pPr>
            <a:r>
              <a:t>Department of Physics</a:t>
            </a:r>
          </a:p>
          <a:p>
            <a:pPr defTabSz="587022">
              <a:defRPr sz="2400"/>
            </a:pPr>
            <a:r>
              <a:t>College of Science</a:t>
            </a:r>
          </a:p>
          <a:p>
            <a:pPr defTabSz="587022">
              <a:defRPr sz="2400"/>
            </a:pPr>
            <a:r>
              <a:t>Northeastern University</a:t>
            </a:r>
          </a:p>
        </p:txBody>
      </p:sp>
      <p:sp>
        <p:nvSpPr>
          <p:cNvPr id="172" name="Optical Tweezers: Measuring the Piconewton Forces"/>
          <p:cNvSpPr txBox="1"/>
          <p:nvPr>
            <p:ph type="ctrTitle"/>
          </p:nvPr>
        </p:nvSpPr>
        <p:spPr>
          <a:xfrm>
            <a:off x="1815471" y="1244626"/>
            <a:ext cx="11609058" cy="3302001"/>
          </a:xfrm>
          <a:prstGeom prst="rect">
            <a:avLst/>
          </a:prstGeom>
        </p:spPr>
        <p:txBody>
          <a:bodyPr/>
          <a:lstStyle/>
          <a:p>
            <a:pPr/>
            <a:r>
              <a:rPr spc="-171" sz="8600"/>
              <a:t>Optical Tweezers: </a:t>
            </a:r>
            <a:r>
              <a:rPr spc="-107" sz="5400"/>
              <a:t>Measuring the Piconewton Forces</a:t>
            </a:r>
          </a:p>
        </p:txBody>
      </p:sp>
      <p:sp>
        <p:nvSpPr>
          <p:cNvPr id="173" name="PHYS5381 Final Presentation"/>
          <p:cNvSpPr txBox="1"/>
          <p:nvPr>
            <p:ph type="subTitle" sz="quarter" idx="1"/>
          </p:nvPr>
        </p:nvSpPr>
        <p:spPr>
          <a:xfrm>
            <a:off x="1815471" y="4495826"/>
            <a:ext cx="11607801" cy="1456400"/>
          </a:xfrm>
          <a:prstGeom prst="rect">
            <a:avLst/>
          </a:prstGeom>
        </p:spPr>
        <p:txBody>
          <a:bodyPr/>
          <a:lstStyle/>
          <a:p>
            <a:pPr/>
            <a:r>
              <a:t>PHYS5381 Final Presentation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First demonstrated by Arthur Ashkin in 1986…"/>
          <p:cNvSpPr txBox="1"/>
          <p:nvPr>
            <p:ph type="body" sz="half" idx="1"/>
          </p:nvPr>
        </p:nvSpPr>
        <p:spPr>
          <a:xfrm>
            <a:off x="922302" y="2974249"/>
            <a:ext cx="6253327" cy="6096001"/>
          </a:xfrm>
          <a:prstGeom prst="rect">
            <a:avLst/>
          </a:prstGeom>
        </p:spPr>
        <p:txBody>
          <a:bodyPr/>
          <a:lstStyle/>
          <a:p>
            <a:pPr/>
            <a:r>
              <a:t>First demonstrated by Arthur Ashkin in 1986</a:t>
            </a:r>
          </a:p>
          <a:p>
            <a:pPr/>
            <a:r>
              <a:t>Essential in biophysics Research.</a:t>
            </a:r>
          </a:p>
          <a:p>
            <a:pPr lvl="1" marL="746759" indent="-365759">
              <a:spcBef>
                <a:spcPts val="2000"/>
              </a:spcBef>
              <a:defRPr sz="2400"/>
            </a:pPr>
            <a:r>
              <a:t>Elasticity of DNA</a:t>
            </a:r>
          </a:p>
          <a:p>
            <a:pPr lvl="1" marL="746759" indent="-365759">
              <a:spcBef>
                <a:spcPts val="2000"/>
              </a:spcBef>
              <a:defRPr sz="2400"/>
            </a:pPr>
            <a:r>
              <a:t>Stepping of molecular motors</a:t>
            </a:r>
          </a:p>
          <a:p>
            <a:pPr/>
            <a:r>
              <a:t>Induced force near the focal point due to intensity gradient.</a:t>
            </a:r>
          </a:p>
          <a:p>
            <a:pPr/>
            <a:r>
              <a:t>Restores for small displacement from the equilibrium position.</a:t>
            </a:r>
          </a:p>
        </p:txBody>
      </p:sp>
      <p:sp>
        <p:nvSpPr>
          <p:cNvPr id="176" name="History, Mechanisms, Application."/>
          <p:cNvSpPr txBox="1"/>
          <p:nvPr>
            <p:ph type="body" idx="21"/>
          </p:nvPr>
        </p:nvSpPr>
        <p:spPr>
          <a:xfrm>
            <a:off x="922302" y="1428127"/>
            <a:ext cx="11607802" cy="671802"/>
          </a:xfrm>
          <a:prstGeom prst="rect">
            <a:avLst/>
          </a:prstGeom>
          <a:extLst>
            <a:ext uri="{C572A759-6A51-4108-AA02-DFA0A04FC94B}">
              <ma14:wrappingTextBoxFlag xmlns:ma14="http://schemas.microsoft.com/office/mac/drawingml/2011/main" val="1"/>
            </a:ext>
          </a:extLst>
        </p:spPr>
        <p:txBody>
          <a:bodyPr/>
          <a:lstStyle/>
          <a:p>
            <a:pPr/>
            <a:r>
              <a:t>History, Mechanisms, Application.</a:t>
            </a:r>
          </a:p>
        </p:txBody>
      </p:sp>
      <p:sp>
        <p:nvSpPr>
          <p:cNvPr id="177" name="Motivation"/>
          <p:cNvSpPr txBox="1"/>
          <p:nvPr>
            <p:ph type="title"/>
          </p:nvPr>
        </p:nvSpPr>
        <p:spPr>
          <a:xfrm>
            <a:off x="922302" y="455415"/>
            <a:ext cx="11607801" cy="1016001"/>
          </a:xfrm>
          <a:prstGeom prst="rect">
            <a:avLst/>
          </a:prstGeom>
        </p:spPr>
        <p:txBody>
          <a:bodyPr/>
          <a:lstStyle>
            <a:lvl1pPr defTabSz="1716590">
              <a:defRPr spc="-118" sz="5940"/>
            </a:lvl1pPr>
          </a:lstStyle>
          <a:p>
            <a:pPr/>
            <a:r>
              <a:t>Motivation</a:t>
            </a:r>
          </a:p>
        </p:txBody>
      </p:sp>
      <p:pic>
        <p:nvPicPr>
          <p:cNvPr id="178" name="Screenshot 2026-04-06 at 10.38.49 AM.png" descr="Screenshot 2026-04-06 at 10.38.49 AM.png"/>
          <p:cNvPicPr>
            <a:picLocks noChangeAspect="1"/>
          </p:cNvPicPr>
          <p:nvPr/>
        </p:nvPicPr>
        <p:blipFill>
          <a:blip r:embed="rId3">
            <a:extLst/>
          </a:blip>
          <a:stretch>
            <a:fillRect/>
          </a:stretch>
        </p:blipFill>
        <p:spPr>
          <a:xfrm>
            <a:off x="9841783" y="2027103"/>
            <a:ext cx="2447837" cy="2884272"/>
          </a:xfrm>
          <a:prstGeom prst="rect">
            <a:avLst/>
          </a:prstGeom>
          <a:ln w="12700">
            <a:miter lim="400000"/>
          </a:ln>
        </p:spPr>
      </p:pic>
      <p:pic>
        <p:nvPicPr>
          <p:cNvPr id="179" name="Screenshot 2026-04-06 at 10.41.30 AM.png" descr="Screenshot 2026-04-06 at 10.41.30 AM.png"/>
          <p:cNvPicPr>
            <a:picLocks noChangeAspect="1"/>
          </p:cNvPicPr>
          <p:nvPr/>
        </p:nvPicPr>
        <p:blipFill>
          <a:blip r:embed="rId4">
            <a:extLst/>
          </a:blip>
          <a:stretch>
            <a:fillRect/>
          </a:stretch>
        </p:blipFill>
        <p:spPr>
          <a:xfrm>
            <a:off x="8368704" y="5467062"/>
            <a:ext cx="5393994" cy="3116300"/>
          </a:xfrm>
          <a:prstGeom prst="rect">
            <a:avLst/>
          </a:prstGeom>
          <a:ln w="12700">
            <a:miter lim="400000"/>
          </a:ln>
        </p:spPr>
      </p:pic>
      <p:sp>
        <p:nvSpPr>
          <p:cNvPr id="180" name="https://physicsworld.com/a/optical-tweezers-where-physics-meets-biology/"/>
          <p:cNvSpPr txBox="1"/>
          <p:nvPr/>
        </p:nvSpPr>
        <p:spPr>
          <a:xfrm>
            <a:off x="9019409" y="9414538"/>
            <a:ext cx="6149367" cy="2998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https://physicsworld.com/a/optical-tweezers-where-physics-meets-biology/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he experimental setup"/>
          <p:cNvSpPr txBox="1"/>
          <p:nvPr>
            <p:ph type="body" idx="21"/>
          </p:nvPr>
        </p:nvSpPr>
        <p:spPr>
          <a:xfrm>
            <a:off x="760792" y="1412977"/>
            <a:ext cx="11607802" cy="671803"/>
          </a:xfrm>
          <a:prstGeom prst="rect">
            <a:avLst/>
          </a:prstGeom>
          <a:extLst>
            <a:ext uri="{C572A759-6A51-4108-AA02-DFA0A04FC94B}">
              <ma14:wrappingTextBoxFlag xmlns:ma14="http://schemas.microsoft.com/office/mac/drawingml/2011/main" val="1"/>
            </a:ext>
          </a:extLst>
        </p:spPr>
        <p:txBody>
          <a:bodyPr/>
          <a:lstStyle/>
          <a:p>
            <a:pPr/>
            <a:r>
              <a:t>The experimental setup</a:t>
            </a:r>
          </a:p>
        </p:txBody>
      </p:sp>
      <p:sp>
        <p:nvSpPr>
          <p:cNvPr id="185" name="Material and Methods"/>
          <p:cNvSpPr txBox="1"/>
          <p:nvPr>
            <p:ph type="title"/>
          </p:nvPr>
        </p:nvSpPr>
        <p:spPr>
          <a:xfrm>
            <a:off x="760792" y="440266"/>
            <a:ext cx="11607801" cy="1016001"/>
          </a:xfrm>
          <a:prstGeom prst="rect">
            <a:avLst/>
          </a:prstGeom>
        </p:spPr>
        <p:txBody>
          <a:bodyPr/>
          <a:lstStyle>
            <a:lvl1pPr defTabSz="1716590">
              <a:defRPr spc="-118" sz="5940"/>
            </a:lvl1pPr>
          </a:lstStyle>
          <a:p>
            <a:pPr/>
            <a:r>
              <a:t>Material and Methods</a:t>
            </a:r>
          </a:p>
        </p:txBody>
      </p:sp>
      <p:pic>
        <p:nvPicPr>
          <p:cNvPr id="186" name="Screenshot 2026-04-07 at 7.38.54 PM.png" descr="Screenshot 2026-04-07 at 7.38.54 PM.png"/>
          <p:cNvPicPr>
            <a:picLocks noChangeAspect="1"/>
          </p:cNvPicPr>
          <p:nvPr/>
        </p:nvPicPr>
        <p:blipFill>
          <a:blip r:embed="rId3">
            <a:extLst/>
          </a:blip>
          <a:stretch>
            <a:fillRect/>
          </a:stretch>
        </p:blipFill>
        <p:spPr>
          <a:xfrm>
            <a:off x="1119848" y="2998066"/>
            <a:ext cx="7905891" cy="5438030"/>
          </a:xfrm>
          <a:prstGeom prst="rect">
            <a:avLst/>
          </a:prstGeom>
          <a:ln w="12700">
            <a:miter lim="400000"/>
          </a:ln>
        </p:spPr>
      </p:pic>
      <p:pic>
        <p:nvPicPr>
          <p:cNvPr id="187" name="Screenshot 2026-04-07 at 7.48.23 PM.png" descr="Screenshot 2026-04-07 at 7.48.23 PM.png"/>
          <p:cNvPicPr>
            <a:picLocks noChangeAspect="1"/>
          </p:cNvPicPr>
          <p:nvPr/>
        </p:nvPicPr>
        <p:blipFill>
          <a:blip r:embed="rId4">
            <a:extLst/>
          </a:blip>
          <a:stretch>
            <a:fillRect/>
          </a:stretch>
        </p:blipFill>
        <p:spPr>
          <a:xfrm>
            <a:off x="9791387" y="3478488"/>
            <a:ext cx="4800601" cy="4203701"/>
          </a:xfrm>
          <a:prstGeom prst="rect">
            <a:avLst/>
          </a:prstGeom>
          <a:ln w="12700">
            <a:miter lim="400000"/>
          </a:ln>
        </p:spPr>
      </p:pic>
      <p:sp>
        <p:nvSpPr>
          <p:cNvPr id="188" name="Arrow"/>
          <p:cNvSpPr/>
          <p:nvPr/>
        </p:nvSpPr>
        <p:spPr>
          <a:xfrm>
            <a:off x="9022987" y="5296439"/>
            <a:ext cx="1045987" cy="179658"/>
          </a:xfrm>
          <a:prstGeom prst="rightArrow">
            <a:avLst>
              <a:gd name="adj1" fmla="val 9629"/>
              <a:gd name="adj2" fmla="val 111442"/>
            </a:avLst>
          </a:prstGeom>
          <a:solidFill>
            <a:srgbClr val="000000"/>
          </a:solidFill>
          <a:ln w="12700">
            <a:miter lim="400000"/>
          </a:ln>
        </p:spPr>
        <p:txBody>
          <a:bodyPr lIns="50800" tIns="50800" rIns="50800" bIns="50800" anchor="ctr"/>
          <a:lstStyle/>
          <a:p>
            <a:pPr algn="ctr" defTabSz="584200">
              <a:lnSpc>
                <a:spcPct val="100000"/>
              </a:lnSpc>
              <a:spcBef>
                <a:spcPts val="0"/>
              </a:spcBef>
              <a:defRPr sz="2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he experimental setup"/>
          <p:cNvSpPr txBox="1"/>
          <p:nvPr>
            <p:ph type="body" idx="21"/>
          </p:nvPr>
        </p:nvSpPr>
        <p:spPr>
          <a:xfrm>
            <a:off x="760792" y="1412977"/>
            <a:ext cx="11607802" cy="671803"/>
          </a:xfrm>
          <a:prstGeom prst="rect">
            <a:avLst/>
          </a:prstGeom>
          <a:extLst>
            <a:ext uri="{C572A759-6A51-4108-AA02-DFA0A04FC94B}">
              <ma14:wrappingTextBoxFlag xmlns:ma14="http://schemas.microsoft.com/office/mac/drawingml/2011/main" val="1"/>
            </a:ext>
          </a:extLst>
        </p:spPr>
        <p:txBody>
          <a:bodyPr/>
          <a:lstStyle/>
          <a:p>
            <a:pPr/>
            <a:r>
              <a:t>The experimental setup</a:t>
            </a:r>
          </a:p>
        </p:txBody>
      </p:sp>
      <p:sp>
        <p:nvSpPr>
          <p:cNvPr id="193" name="Material and Methods"/>
          <p:cNvSpPr txBox="1"/>
          <p:nvPr>
            <p:ph type="title"/>
          </p:nvPr>
        </p:nvSpPr>
        <p:spPr>
          <a:xfrm>
            <a:off x="760792" y="440266"/>
            <a:ext cx="11607801" cy="1016001"/>
          </a:xfrm>
          <a:prstGeom prst="rect">
            <a:avLst/>
          </a:prstGeom>
        </p:spPr>
        <p:txBody>
          <a:bodyPr/>
          <a:lstStyle>
            <a:lvl1pPr defTabSz="1716590">
              <a:defRPr spc="-118" sz="5940"/>
            </a:lvl1pPr>
          </a:lstStyle>
          <a:p>
            <a:pPr/>
            <a:r>
              <a:t>Material and Methods</a:t>
            </a:r>
          </a:p>
        </p:txBody>
      </p:sp>
      <p:sp>
        <p:nvSpPr>
          <p:cNvPr id="194" name="Bead: trapped particles…"/>
          <p:cNvSpPr txBox="1"/>
          <p:nvPr>
            <p:ph type="body" sz="half" idx="1"/>
          </p:nvPr>
        </p:nvSpPr>
        <p:spPr>
          <a:xfrm>
            <a:off x="922302" y="2956892"/>
            <a:ext cx="7225246" cy="6096001"/>
          </a:xfrm>
          <a:prstGeom prst="rect">
            <a:avLst/>
          </a:prstGeom>
        </p:spPr>
        <p:txBody>
          <a:bodyPr/>
          <a:lstStyle/>
          <a:p>
            <a:pPr/>
            <a:r>
              <a:t>Bead: trapped particles </a:t>
            </a:r>
          </a:p>
          <a:p>
            <a:pPr lvl="1"/>
            <a:r>
              <a:t>Diameter of 4.16 ± 0.21 µm</a:t>
            </a:r>
          </a:p>
          <a:p>
            <a:pPr lvl="1"/>
            <a:r>
              <a:t>Index of refraction n = 1.50</a:t>
            </a:r>
          </a:p>
          <a:p>
            <a:pPr lvl="1"/>
            <a:r>
              <a:t>Deionized water n = 1.33</a:t>
            </a:r>
          </a:p>
        </p:txBody>
      </p:sp>
      <p:pic>
        <p:nvPicPr>
          <p:cNvPr id="195" name="Screenshot 2026-04-07 at 7.48.23 PM.png" descr="Screenshot 2026-04-07 at 7.48.23 PM.png"/>
          <p:cNvPicPr>
            <a:picLocks noChangeAspect="1"/>
          </p:cNvPicPr>
          <p:nvPr/>
        </p:nvPicPr>
        <p:blipFill>
          <a:blip r:embed="rId3">
            <a:extLst/>
          </a:blip>
          <a:stretch>
            <a:fillRect/>
          </a:stretch>
        </p:blipFill>
        <p:spPr>
          <a:xfrm>
            <a:off x="10282454" y="1141688"/>
            <a:ext cx="4800601" cy="4203701"/>
          </a:xfrm>
          <a:prstGeom prst="rect">
            <a:avLst/>
          </a:prstGeom>
          <a:ln w="12700">
            <a:miter lim="400000"/>
          </a:ln>
        </p:spPr>
      </p:pic>
      <p:pic>
        <p:nvPicPr>
          <p:cNvPr id="196" name="Screenshot 2026-04-07 at 7.38.54 PM.png" descr="Screenshot 2026-04-07 at 7.38.54 PM.png"/>
          <p:cNvPicPr>
            <a:picLocks noChangeAspect="1"/>
          </p:cNvPicPr>
          <p:nvPr/>
        </p:nvPicPr>
        <p:blipFill>
          <a:blip r:embed="rId4">
            <a:extLst/>
          </a:blip>
          <a:stretch>
            <a:fillRect/>
          </a:stretch>
        </p:blipFill>
        <p:spPr>
          <a:xfrm>
            <a:off x="7689981" y="4219625"/>
            <a:ext cx="6329615" cy="4353796"/>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Data Acquisition"/>
          <p:cNvSpPr txBox="1"/>
          <p:nvPr>
            <p:ph type="body" idx="21"/>
          </p:nvPr>
        </p:nvSpPr>
        <p:spPr>
          <a:xfrm>
            <a:off x="760792" y="1412977"/>
            <a:ext cx="11607802" cy="671803"/>
          </a:xfrm>
          <a:prstGeom prst="rect">
            <a:avLst/>
          </a:prstGeom>
          <a:extLst>
            <a:ext uri="{C572A759-6A51-4108-AA02-DFA0A04FC94B}">
              <ma14:wrappingTextBoxFlag xmlns:ma14="http://schemas.microsoft.com/office/mac/drawingml/2011/main" val="1"/>
            </a:ext>
          </a:extLst>
        </p:spPr>
        <p:txBody>
          <a:bodyPr/>
          <a:lstStyle/>
          <a:p>
            <a:pPr/>
            <a:r>
              <a:t>Data Acquisition</a:t>
            </a:r>
          </a:p>
        </p:txBody>
      </p:sp>
      <p:sp>
        <p:nvSpPr>
          <p:cNvPr id="201" name="Material and Methods"/>
          <p:cNvSpPr txBox="1"/>
          <p:nvPr>
            <p:ph type="title"/>
          </p:nvPr>
        </p:nvSpPr>
        <p:spPr>
          <a:xfrm>
            <a:off x="760792" y="440266"/>
            <a:ext cx="11607801" cy="1016001"/>
          </a:xfrm>
          <a:prstGeom prst="rect">
            <a:avLst/>
          </a:prstGeom>
        </p:spPr>
        <p:txBody>
          <a:bodyPr/>
          <a:lstStyle>
            <a:lvl1pPr defTabSz="1716590">
              <a:defRPr spc="-118" sz="5940"/>
            </a:lvl1pPr>
          </a:lstStyle>
          <a:p>
            <a:pPr/>
            <a:r>
              <a:t>Material and Methods</a:t>
            </a:r>
          </a:p>
        </p:txBody>
      </p:sp>
      <p:sp>
        <p:nvSpPr>
          <p:cNvPr id="202" name="Measurements were taken at…"/>
          <p:cNvSpPr txBox="1"/>
          <p:nvPr>
            <p:ph type="body" sz="half" idx="1"/>
          </p:nvPr>
        </p:nvSpPr>
        <p:spPr>
          <a:xfrm>
            <a:off x="760792" y="2671233"/>
            <a:ext cx="7142098" cy="6096001"/>
          </a:xfrm>
          <a:prstGeom prst="rect">
            <a:avLst/>
          </a:prstGeom>
        </p:spPr>
        <p:txBody>
          <a:bodyPr/>
          <a:lstStyle/>
          <a:p>
            <a:pPr/>
            <a:r>
              <a:t>Measurements were taken at</a:t>
            </a:r>
          </a:p>
          <a:p>
            <a:pPr lvl="1"/>
            <a:r>
              <a:t>25, 50, 75, 120, 125, 130, 135, 145 µL/min.</a:t>
            </a:r>
          </a:p>
          <a:p>
            <a:pPr/>
            <a:r>
              <a:t>Python with the OpenCV, NumPy, and SciPy libraries. </a:t>
            </a:r>
          </a:p>
          <a:p>
            <a:pPr/>
            <a:r>
              <a:t>A region of interest (ROI): rows 240-270 was selected, as it trapped bead and optical trap center</a:t>
            </a:r>
          </a:p>
        </p:txBody>
      </p:sp>
      <p:pic>
        <p:nvPicPr>
          <p:cNvPr id="203" name="Screenshot 2026-04-07 at 8.09.49 PM.png" descr="Screenshot 2026-04-07 at 8.09.49 PM.png"/>
          <p:cNvPicPr>
            <a:picLocks noChangeAspect="1"/>
          </p:cNvPicPr>
          <p:nvPr/>
        </p:nvPicPr>
        <p:blipFill>
          <a:blip r:embed="rId3">
            <a:extLst/>
          </a:blip>
          <a:stretch>
            <a:fillRect/>
          </a:stretch>
        </p:blipFill>
        <p:spPr>
          <a:xfrm>
            <a:off x="8128122" y="1666718"/>
            <a:ext cx="6633654" cy="4730443"/>
          </a:xfrm>
          <a:prstGeom prst="rect">
            <a:avLst/>
          </a:prstGeom>
          <a:ln w="12700">
            <a:miter lim="400000"/>
          </a:ln>
        </p:spPr>
      </p:pic>
      <p:grpSp>
        <p:nvGrpSpPr>
          <p:cNvPr id="207" name="Group"/>
          <p:cNvGrpSpPr/>
          <p:nvPr/>
        </p:nvGrpSpPr>
        <p:grpSpPr>
          <a:xfrm>
            <a:off x="7978471" y="6726145"/>
            <a:ext cx="6932956" cy="1400741"/>
            <a:chOff x="0" y="0"/>
            <a:chExt cx="6932955" cy="1400739"/>
          </a:xfrm>
        </p:grpSpPr>
        <p:pic>
          <p:nvPicPr>
            <p:cNvPr id="204" name="Screenshot 2026-04-07 at 8.11.33 PM.png" descr="Screenshot 2026-04-07 at 8.11.33 PM.png"/>
            <p:cNvPicPr>
              <a:picLocks noChangeAspect="1"/>
            </p:cNvPicPr>
            <p:nvPr/>
          </p:nvPicPr>
          <p:blipFill>
            <a:blip r:embed="rId4">
              <a:extLst/>
            </a:blip>
            <a:stretch>
              <a:fillRect/>
            </a:stretch>
          </p:blipFill>
          <p:spPr>
            <a:xfrm>
              <a:off x="0" y="0"/>
              <a:ext cx="6932956" cy="1400740"/>
            </a:xfrm>
            <a:prstGeom prst="rect">
              <a:avLst/>
            </a:prstGeom>
            <a:ln w="12700" cap="flat">
              <a:noFill/>
              <a:miter lim="400000"/>
            </a:ln>
            <a:effectLst/>
          </p:spPr>
        </p:pic>
        <p:sp>
          <p:nvSpPr>
            <p:cNvPr id="205" name="Line"/>
            <p:cNvSpPr/>
            <p:nvPr/>
          </p:nvSpPr>
          <p:spPr>
            <a:xfrm>
              <a:off x="179086" y="356876"/>
              <a:ext cx="6574784" cy="1"/>
            </a:xfrm>
            <a:prstGeom prst="line">
              <a:avLst/>
            </a:prstGeom>
            <a:noFill/>
            <a:ln w="25400" cap="flat">
              <a:solidFill>
                <a:schemeClr val="accent5">
                  <a:hueOff val="-82419"/>
                  <a:satOff val="-9513"/>
                  <a:lumOff val="-16343"/>
                </a:schemeClr>
              </a:solidFill>
              <a:prstDash val="solid"/>
              <a:miter lim="400000"/>
            </a:ln>
            <a:effectLst/>
          </p:spPr>
          <p:txBody>
            <a:bodyPr wrap="square" lIns="50800" tIns="50800" rIns="50800" bIns="50800" numCol="1" anchor="ctr">
              <a:noAutofit/>
            </a:bodyPr>
            <a:lstStyle/>
            <a:p>
              <a:pPr/>
            </a:p>
          </p:txBody>
        </p:sp>
        <p:sp>
          <p:nvSpPr>
            <p:cNvPr id="206" name="Line"/>
            <p:cNvSpPr/>
            <p:nvPr/>
          </p:nvSpPr>
          <p:spPr>
            <a:xfrm>
              <a:off x="179086" y="1120916"/>
              <a:ext cx="6574784" cy="1"/>
            </a:xfrm>
            <a:prstGeom prst="line">
              <a:avLst/>
            </a:prstGeom>
            <a:noFill/>
            <a:ln w="25400" cap="flat">
              <a:solidFill>
                <a:schemeClr val="accent5">
                  <a:hueOff val="-82419"/>
                  <a:satOff val="-9513"/>
                  <a:lumOff val="-16343"/>
                </a:schemeClr>
              </a:solidFill>
              <a:prstDash val="solid"/>
              <a:miter lim="400000"/>
            </a:ln>
            <a:effectLst/>
          </p:spPr>
          <p:txBody>
            <a:bodyPr wrap="square" lIns="50800" tIns="50800" rIns="50800" bIns="50800" numCol="1" anchor="ctr">
              <a:noAutofit/>
            </a:bodyPr>
            <a:lstStyle/>
            <a:p>
              <a:pP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1" name="Screenshot 2026-04-07 at 8.18.55 PM.png" descr="Screenshot 2026-04-07 at 8.18.55 PM.png"/>
          <p:cNvPicPr>
            <a:picLocks noChangeAspect="1"/>
          </p:cNvPicPr>
          <p:nvPr/>
        </p:nvPicPr>
        <p:blipFill>
          <a:blip r:embed="rId3">
            <a:extLst/>
          </a:blip>
          <a:stretch>
            <a:fillRect/>
          </a:stretch>
        </p:blipFill>
        <p:spPr>
          <a:xfrm>
            <a:off x="858089" y="2051843"/>
            <a:ext cx="12944463" cy="7463722"/>
          </a:xfrm>
          <a:prstGeom prst="rect">
            <a:avLst/>
          </a:prstGeom>
          <a:ln w="12700">
            <a:miter lim="400000"/>
          </a:ln>
        </p:spPr>
      </p:pic>
      <p:sp>
        <p:nvSpPr>
          <p:cNvPr id="212" name="Material and Methods"/>
          <p:cNvSpPr txBox="1"/>
          <p:nvPr>
            <p:ph type="title"/>
          </p:nvPr>
        </p:nvSpPr>
        <p:spPr>
          <a:xfrm>
            <a:off x="760792" y="440266"/>
            <a:ext cx="11607801" cy="1016001"/>
          </a:xfrm>
          <a:prstGeom prst="rect">
            <a:avLst/>
          </a:prstGeom>
        </p:spPr>
        <p:txBody>
          <a:bodyPr/>
          <a:lstStyle>
            <a:lvl1pPr defTabSz="1716590">
              <a:defRPr spc="-118" sz="5940"/>
            </a:lvl1pPr>
          </a:lstStyle>
          <a:p>
            <a:pPr/>
            <a:r>
              <a:t>Material and Methods</a:t>
            </a:r>
          </a:p>
        </p:txBody>
      </p:sp>
      <p:sp>
        <p:nvSpPr>
          <p:cNvPr id="213" name="Data Acquisition"/>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Data Acquisition</a:t>
            </a:r>
          </a:p>
        </p:txBody>
      </p:sp>
      <p:sp>
        <p:nvSpPr>
          <p:cNvPr id="214" name="Intensity Background: 25th percentile of distribution"/>
          <p:cNvSpPr txBox="1"/>
          <p:nvPr/>
        </p:nvSpPr>
        <p:spPr>
          <a:xfrm>
            <a:off x="3123583" y="5522011"/>
            <a:ext cx="3668796" cy="7698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300">
                <a:solidFill>
                  <a:schemeClr val="accent5">
                    <a:hueOff val="-82419"/>
                    <a:satOff val="-9513"/>
                    <a:lumOff val="-16343"/>
                  </a:schemeClr>
                </a:solidFill>
              </a:defRPr>
            </a:lvl1pPr>
          </a:lstStyle>
          <a:p>
            <a:pPr/>
            <a:r>
              <a:t>Intensity Background: 25th percentile of distribution</a:t>
            </a:r>
          </a:p>
        </p:txBody>
      </p:sp>
      <p:sp>
        <p:nvSpPr>
          <p:cNvPr id="215" name="Line"/>
          <p:cNvSpPr/>
          <p:nvPr/>
        </p:nvSpPr>
        <p:spPr>
          <a:xfrm>
            <a:off x="2384093" y="4227115"/>
            <a:ext cx="10891592" cy="1"/>
          </a:xfrm>
          <a:prstGeom prst="line">
            <a:avLst/>
          </a:prstGeom>
          <a:ln w="38100" cap="rnd">
            <a:solidFill>
              <a:schemeClr val="accent5">
                <a:lumOff val="-29866"/>
              </a:schemeClr>
            </a:solidFill>
            <a:custDash>
              <a:ds d="100000" sp="200000"/>
            </a:custDash>
            <a:miter lim="400000"/>
          </a:ln>
        </p:spPr>
        <p:txBody>
          <a:bodyPr lIns="50800" tIns="50800" rIns="50800" bIns="50800" anchor="ctr"/>
          <a:lstStyle/>
          <a:p>
            <a:pPr/>
          </a:p>
        </p:txBody>
      </p:sp>
      <p:sp>
        <p:nvSpPr>
          <p:cNvPr id="216" name="Intensity threshold"/>
          <p:cNvSpPr txBox="1"/>
          <p:nvPr/>
        </p:nvSpPr>
        <p:spPr>
          <a:xfrm>
            <a:off x="9727776" y="3705250"/>
            <a:ext cx="3240787" cy="5481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Intensity threshold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Results"/>
          <p:cNvSpPr txBox="1"/>
          <p:nvPr>
            <p:ph type="title"/>
          </p:nvPr>
        </p:nvSpPr>
        <p:spPr>
          <a:xfrm>
            <a:off x="760792" y="440266"/>
            <a:ext cx="11607801" cy="1016001"/>
          </a:xfrm>
          <a:prstGeom prst="rect">
            <a:avLst/>
          </a:prstGeom>
        </p:spPr>
        <p:txBody>
          <a:bodyPr/>
          <a:lstStyle>
            <a:lvl1pPr defTabSz="1716590">
              <a:defRPr spc="-118" sz="5940"/>
            </a:lvl1pPr>
          </a:lstStyle>
          <a:p>
            <a:pPr/>
            <a:r>
              <a:t>Results</a:t>
            </a:r>
          </a:p>
        </p:txBody>
      </p:sp>
      <p:sp>
        <p:nvSpPr>
          <p:cNvPr id="221" name="Data analysis"/>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Data analysis</a:t>
            </a:r>
          </a:p>
        </p:txBody>
      </p:sp>
      <p:pic>
        <p:nvPicPr>
          <p:cNvPr id="222" name="gaussian.png" descr="gaussian.png"/>
          <p:cNvPicPr>
            <a:picLocks noChangeAspect="1"/>
          </p:cNvPicPr>
          <p:nvPr/>
        </p:nvPicPr>
        <p:blipFill>
          <a:blip r:embed="rId3">
            <a:extLst/>
          </a:blip>
          <a:stretch>
            <a:fillRect/>
          </a:stretch>
        </p:blipFill>
        <p:spPr>
          <a:xfrm>
            <a:off x="945957" y="2330243"/>
            <a:ext cx="12732744" cy="70105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Results"/>
          <p:cNvSpPr txBox="1"/>
          <p:nvPr>
            <p:ph type="title"/>
          </p:nvPr>
        </p:nvSpPr>
        <p:spPr>
          <a:xfrm>
            <a:off x="760792" y="440266"/>
            <a:ext cx="11607801" cy="1016001"/>
          </a:xfrm>
          <a:prstGeom prst="rect">
            <a:avLst/>
          </a:prstGeom>
        </p:spPr>
        <p:txBody>
          <a:bodyPr/>
          <a:lstStyle>
            <a:lvl1pPr defTabSz="1716590">
              <a:defRPr spc="-118" sz="5940"/>
            </a:lvl1pPr>
          </a:lstStyle>
          <a:p>
            <a:pPr/>
            <a:r>
              <a:t>Results</a:t>
            </a:r>
          </a:p>
        </p:txBody>
      </p:sp>
      <p:sp>
        <p:nvSpPr>
          <p:cNvPr id="227" name="Data analysis"/>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Data analysis</a:t>
            </a:r>
          </a:p>
        </p:txBody>
      </p:sp>
      <p:pic>
        <p:nvPicPr>
          <p:cNvPr id="228" name="diff_filters.png" descr="diff_filters.png"/>
          <p:cNvPicPr>
            <a:picLocks noChangeAspect="1"/>
          </p:cNvPicPr>
          <p:nvPr/>
        </p:nvPicPr>
        <p:blipFill>
          <a:blip r:embed="rId3">
            <a:extLst/>
          </a:blip>
          <a:stretch>
            <a:fillRect/>
          </a:stretch>
        </p:blipFill>
        <p:spPr>
          <a:xfrm>
            <a:off x="4292971" y="1145446"/>
            <a:ext cx="10480991" cy="7462708"/>
          </a:xfrm>
          <a:prstGeom prst="rect">
            <a:avLst/>
          </a:prstGeom>
          <a:ln w="12700">
            <a:miter lim="400000"/>
          </a:ln>
        </p:spPr>
      </p:pic>
      <p:sp>
        <p:nvSpPr>
          <p:cNvPr id="229" name="Median Filter…"/>
          <p:cNvSpPr txBox="1"/>
          <p:nvPr/>
        </p:nvSpPr>
        <p:spPr>
          <a:xfrm>
            <a:off x="1219263" y="3374313"/>
            <a:ext cx="2703958" cy="300497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381000" indent="-381000">
              <a:buSzPct val="123000"/>
              <a:buChar char="•"/>
            </a:pPr>
            <a:r>
              <a:t>Median Filter</a:t>
            </a:r>
          </a:p>
          <a:p>
            <a:pPr marL="381000" indent="-381000">
              <a:buSzPct val="123000"/>
              <a:buChar char="•"/>
            </a:pPr>
            <a:r>
              <a:t>IQR Method</a:t>
            </a:r>
          </a:p>
          <a:p>
            <a:pPr marL="381000" indent="-381000">
              <a:buSzPct val="123000"/>
              <a:buChar char="•"/>
            </a:pPr>
            <a:r>
              <a:t>Z-Score</a:t>
            </a:r>
          </a:p>
          <a:p>
            <a:pPr marL="381000" indent="-381000">
              <a:buSzPct val="123000"/>
              <a:buChar char="•"/>
            </a:pPr>
            <a:r>
              <a:t>Combined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Results"/>
          <p:cNvSpPr txBox="1"/>
          <p:nvPr>
            <p:ph type="title"/>
          </p:nvPr>
        </p:nvSpPr>
        <p:spPr>
          <a:xfrm>
            <a:off x="760792" y="440266"/>
            <a:ext cx="11607801" cy="1016001"/>
          </a:xfrm>
          <a:prstGeom prst="rect">
            <a:avLst/>
          </a:prstGeom>
        </p:spPr>
        <p:txBody>
          <a:bodyPr/>
          <a:lstStyle>
            <a:lvl1pPr defTabSz="1716590">
              <a:defRPr spc="-118" sz="5940"/>
            </a:lvl1pPr>
          </a:lstStyle>
          <a:p>
            <a:pPr/>
            <a:r>
              <a:t>Results</a:t>
            </a:r>
          </a:p>
        </p:txBody>
      </p:sp>
      <p:sp>
        <p:nvSpPr>
          <p:cNvPr id="234" name="Data analysis"/>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Data analysis</a:t>
            </a:r>
          </a:p>
        </p:txBody>
      </p:sp>
      <p:pic>
        <p:nvPicPr>
          <p:cNvPr id="235" name="pandv.png" descr="pandv.png"/>
          <p:cNvPicPr>
            <a:picLocks noChangeAspect="1"/>
          </p:cNvPicPr>
          <p:nvPr/>
        </p:nvPicPr>
        <p:blipFill>
          <a:blip r:embed="rId3">
            <a:extLst/>
          </a:blip>
          <a:stretch>
            <a:fillRect/>
          </a:stretch>
        </p:blipFill>
        <p:spPr>
          <a:xfrm>
            <a:off x="5669279" y="2082792"/>
            <a:ext cx="9232010" cy="6594293"/>
          </a:xfrm>
          <a:prstGeom prst="rect">
            <a:avLst/>
          </a:prstGeom>
          <a:ln w="12700">
            <a:miter lim="400000"/>
          </a:ln>
        </p:spPr>
      </p:pic>
      <p:sp>
        <p:nvSpPr>
          <p:cNvPr id="236" name="Line"/>
          <p:cNvSpPr/>
          <p:nvPr/>
        </p:nvSpPr>
        <p:spPr>
          <a:xfrm flipV="1">
            <a:off x="7407747" y="2471078"/>
            <a:ext cx="1" cy="5817721"/>
          </a:xfrm>
          <a:prstGeom prst="line">
            <a:avLst/>
          </a:prstGeom>
          <a:ln w="38100" cap="rnd">
            <a:solidFill>
              <a:schemeClr val="accent5">
                <a:hueOff val="-82419"/>
                <a:satOff val="-9513"/>
                <a:lumOff val="-16343"/>
              </a:schemeClr>
            </a:solidFill>
            <a:custDash>
              <a:ds d="100000" sp="200000"/>
            </a:custDash>
            <a:miter lim="400000"/>
          </a:ln>
        </p:spPr>
        <p:txBody>
          <a:bodyPr lIns="50800" tIns="50800" rIns="50800" bIns="50800" anchor="ctr"/>
          <a:lstStyle/>
          <a:p>
            <a:pPr/>
          </a:p>
        </p:txBody>
      </p:sp>
      <p:sp>
        <p:nvSpPr>
          <p:cNvPr id="237" name="Savitzky-Golay filter was applied with…"/>
          <p:cNvSpPr txBox="1"/>
          <p:nvPr/>
        </p:nvSpPr>
        <p:spPr>
          <a:xfrm>
            <a:off x="820949" y="2476972"/>
            <a:ext cx="4794225" cy="58059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381000" indent="-381000">
              <a:lnSpc>
                <a:spcPct val="100000"/>
              </a:lnSpc>
              <a:spcBef>
                <a:spcPts val="1300"/>
              </a:spcBef>
              <a:buSzPct val="123000"/>
              <a:buChar char="•"/>
            </a:pPr>
            <a:r>
              <a:t>Savitzky-Golay filter was applied with</a:t>
            </a:r>
          </a:p>
          <a:p>
            <a:pPr lvl="1" marL="762000" indent="-381000">
              <a:lnSpc>
                <a:spcPct val="100000"/>
              </a:lnSpc>
              <a:spcBef>
                <a:spcPts val="1300"/>
              </a:spcBef>
              <a:buSzPct val="123000"/>
              <a:buChar char="•"/>
            </a:pPr>
            <a:r>
              <a:t>46 frames (~1.5 s)</a:t>
            </a:r>
          </a:p>
          <a:p>
            <a:pPr lvl="1" marL="762000" indent="-381000">
              <a:lnSpc>
                <a:spcPct val="100000"/>
              </a:lnSpc>
              <a:spcBef>
                <a:spcPts val="1300"/>
              </a:spcBef>
              <a:buSzPct val="123000"/>
              <a:buChar char="•"/>
            </a:pPr>
            <a:r>
              <a:t>polynomial order 3</a:t>
            </a:r>
          </a:p>
          <a:p>
            <a:pPr marL="381000" indent="-381000">
              <a:lnSpc>
                <a:spcPct val="100000"/>
              </a:lnSpc>
              <a:buSzPct val="123000"/>
              <a:buChar char="•"/>
            </a:pPr>
            <a:r>
              <a:t>Velocity vs. time computed from taking the derivative of Position vs. time</a:t>
            </a:r>
          </a:p>
          <a:p>
            <a:pPr marL="381000" indent="-381000">
              <a:lnSpc>
                <a:spcPct val="100000"/>
              </a:lnSpc>
              <a:buSzPct val="123000"/>
              <a:buChar char="•"/>
            </a:pPr>
            <a:r>
              <a:t>Negative velocity minima is selected.</a:t>
            </a:r>
          </a:p>
        </p:txBody>
      </p:sp>
      <p:sp>
        <p:nvSpPr>
          <p:cNvPr id="238" name="Free bead velocity"/>
          <p:cNvSpPr txBox="1"/>
          <p:nvPr/>
        </p:nvSpPr>
        <p:spPr>
          <a:xfrm>
            <a:off x="7680202" y="7862236"/>
            <a:ext cx="2089583" cy="38694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chemeClr val="accent5">
                    <a:hueOff val="-82419"/>
                    <a:satOff val="-9513"/>
                    <a:lumOff val="-16343"/>
                  </a:schemeClr>
                </a:solidFill>
              </a:defRPr>
            </a:lvl1pPr>
          </a:lstStyle>
          <a:p>
            <a:pPr/>
            <a:r>
              <a:t>Free bead velocity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Results"/>
          <p:cNvSpPr txBox="1"/>
          <p:nvPr>
            <p:ph type="title"/>
          </p:nvPr>
        </p:nvSpPr>
        <p:spPr>
          <a:xfrm>
            <a:off x="760792" y="440266"/>
            <a:ext cx="11607801" cy="1016001"/>
          </a:xfrm>
          <a:prstGeom prst="rect">
            <a:avLst/>
          </a:prstGeom>
        </p:spPr>
        <p:txBody>
          <a:bodyPr/>
          <a:lstStyle>
            <a:lvl1pPr defTabSz="1716590">
              <a:defRPr spc="-118" sz="5940"/>
            </a:lvl1pPr>
          </a:lstStyle>
          <a:p>
            <a:pPr/>
            <a:r>
              <a:t>Results</a:t>
            </a:r>
          </a:p>
        </p:txBody>
      </p:sp>
      <p:sp>
        <p:nvSpPr>
          <p:cNvPr id="243" name="Savitzky-Golay filter"/>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Savitzky-Golay filter</a:t>
            </a:r>
          </a:p>
        </p:txBody>
      </p:sp>
      <p:pic>
        <p:nvPicPr>
          <p:cNvPr id="244" name="Savitzky_golay_local_regression_wl045_pd04.gif" descr="Savitzky_golay_local_regression_wl045_pd04.gif"/>
          <p:cNvPicPr>
            <a:picLocks noChangeAspect="0"/>
          </p:cNvPicPr>
          <p:nvPr/>
        </p:nvPicPr>
        <p:blipFill>
          <a:blip r:embed="rId3">
            <a:extLst/>
          </a:blip>
          <a:stretch>
            <a:fillRect/>
          </a:stretch>
        </p:blipFill>
        <p:spPr>
          <a:xfrm>
            <a:off x="1158447" y="2362200"/>
            <a:ext cx="12923106" cy="6892323"/>
          </a:xfrm>
          <a:prstGeom prst="rect">
            <a:avLst/>
          </a:prstGeom>
          <a:ln w="12700">
            <a:miter lim="400000"/>
          </a:ln>
        </p:spPr>
      </p:pic>
      <p:sp>
        <p:nvSpPr>
          <p:cNvPr id="245" name="By MothNik - Own work, CC0, https://commons.wikimedia.org/w/index.php?curid=164353357"/>
          <p:cNvSpPr txBox="1"/>
          <p:nvPr/>
        </p:nvSpPr>
        <p:spPr>
          <a:xfrm>
            <a:off x="4378811" y="9359222"/>
            <a:ext cx="10845293" cy="39928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pPr/>
            <a:r>
              <a:t>By MothNik - Own work, CC0, https://commons.wikimedia.org/w/index.php?curid=164353357</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Viscous drag force a trapped bead was calculated using Stokes’ law…"/>
          <p:cNvSpPr txBox="1"/>
          <p:nvPr>
            <p:ph type="body" idx="1"/>
          </p:nvPr>
        </p:nvSpPr>
        <p:spPr>
          <a:xfrm>
            <a:off x="760792" y="2413000"/>
            <a:ext cx="11607801" cy="6096000"/>
          </a:xfrm>
          <a:prstGeom prst="rect">
            <a:avLst/>
          </a:prstGeom>
        </p:spPr>
        <p:txBody>
          <a:bodyPr/>
          <a:lstStyle/>
          <a:p>
            <a:pPr/>
            <a:r>
              <a:t>Viscous drag force a trapped bead was calculated using Stokes’ law</a:t>
            </a:r>
          </a:p>
          <a:p>
            <a:pPr lvl="1"/>
            <a:r>
              <a:t>η : the dynamic viscosity of water at room temperature</a:t>
            </a:r>
          </a:p>
          <a:p>
            <a:pPr lvl="1"/>
            <a:r>
              <a:t>r : bead radius</a:t>
            </a:r>
          </a:p>
          <a:p>
            <a:pPr lvl="1"/>
            <a:r>
              <a:t>v : is the measured free-bead velocity at each flow rate</a:t>
            </a:r>
          </a:p>
          <a:p>
            <a:pPr/>
            <a:r>
              <a:t>The trap stiffness k was determined by fitting</a:t>
            </a:r>
          </a:p>
          <a:p>
            <a:pPr lvl="1"/>
            <a:r>
              <a:t>a linear model to the measured force-displacement pairs across all flow rates:</a:t>
            </a:r>
          </a:p>
        </p:txBody>
      </p:sp>
      <p:sp>
        <p:nvSpPr>
          <p:cNvPr id="250" name="Results"/>
          <p:cNvSpPr txBox="1"/>
          <p:nvPr>
            <p:ph type="title"/>
          </p:nvPr>
        </p:nvSpPr>
        <p:spPr>
          <a:xfrm>
            <a:off x="760792" y="440266"/>
            <a:ext cx="11607801" cy="1016001"/>
          </a:xfrm>
          <a:prstGeom prst="rect">
            <a:avLst/>
          </a:prstGeom>
        </p:spPr>
        <p:txBody>
          <a:bodyPr/>
          <a:lstStyle>
            <a:lvl1pPr defTabSz="1716590">
              <a:defRPr spc="-118" sz="5940"/>
            </a:lvl1pPr>
          </a:lstStyle>
          <a:p>
            <a:pPr/>
            <a:r>
              <a:t>Results</a:t>
            </a:r>
          </a:p>
        </p:txBody>
      </p:sp>
      <p:sp>
        <p:nvSpPr>
          <p:cNvPr id="251" name="Data analysis"/>
          <p:cNvSpPr txBox="1"/>
          <p:nvPr/>
        </p:nvSpPr>
        <p:spPr>
          <a:xfrm>
            <a:off x="760792" y="1412977"/>
            <a:ext cx="11607802" cy="6718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587022">
              <a:lnSpc>
                <a:spcPct val="100000"/>
              </a:lnSpc>
              <a:spcBef>
                <a:spcPts val="0"/>
              </a:spcBef>
              <a:defRPr b="1" sz="3800"/>
            </a:lvl1pPr>
          </a:lstStyle>
          <a:p>
            <a:pPr/>
            <a:r>
              <a:t>Data analysis</a:t>
            </a:r>
          </a:p>
        </p:txBody>
      </p:sp>
      <p:pic>
        <p:nvPicPr>
          <p:cNvPr id="252" name="Screenshot 2026-04-07 at 8.58.26 PM.png" descr="Screenshot 2026-04-07 at 8.58.26 PM.png"/>
          <p:cNvPicPr>
            <a:picLocks noChangeAspect="1"/>
          </p:cNvPicPr>
          <p:nvPr/>
        </p:nvPicPr>
        <p:blipFill>
          <a:blip r:embed="rId2">
            <a:extLst/>
          </a:blip>
          <a:stretch>
            <a:fillRect/>
          </a:stretch>
        </p:blipFill>
        <p:spPr>
          <a:xfrm>
            <a:off x="11496013" y="4175687"/>
            <a:ext cx="3543301" cy="1003301"/>
          </a:xfrm>
          <a:prstGeom prst="rect">
            <a:avLst/>
          </a:prstGeom>
          <a:ln w="12700">
            <a:miter lim="400000"/>
          </a:ln>
        </p:spPr>
      </p:pic>
      <p:pic>
        <p:nvPicPr>
          <p:cNvPr id="253" name="Screenshot 2026-04-07 at 8.58.37 PM.png" descr="Screenshot 2026-04-07 at 8.58.37 PM.png"/>
          <p:cNvPicPr>
            <a:picLocks noChangeAspect="1"/>
          </p:cNvPicPr>
          <p:nvPr/>
        </p:nvPicPr>
        <p:blipFill>
          <a:blip r:embed="rId3">
            <a:extLst/>
          </a:blip>
          <a:stretch>
            <a:fillRect/>
          </a:stretch>
        </p:blipFill>
        <p:spPr>
          <a:xfrm>
            <a:off x="12261056" y="5277346"/>
            <a:ext cx="1968501" cy="977901"/>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5" name="optical_tweezers_analysis.png" descr="optical_tweezers_analysis.png"/>
          <p:cNvPicPr>
            <a:picLocks noChangeAspect="1"/>
          </p:cNvPicPr>
          <p:nvPr/>
        </p:nvPicPr>
        <p:blipFill>
          <a:blip r:embed="rId3">
            <a:extLst/>
          </a:blip>
          <a:srcRect l="0" t="10213" r="0" b="0"/>
          <a:stretch>
            <a:fillRect/>
          </a:stretch>
        </p:blipFill>
        <p:spPr>
          <a:xfrm>
            <a:off x="5460306" y="1774097"/>
            <a:ext cx="9404830" cy="7543241"/>
          </a:xfrm>
          <a:prstGeom prst="rect">
            <a:avLst/>
          </a:prstGeom>
          <a:ln w="12700">
            <a:miter lim="400000"/>
          </a:ln>
        </p:spPr>
      </p:pic>
      <p:sp>
        <p:nvSpPr>
          <p:cNvPr id="256" name="Displacement &amp; Force vs. Flow Rate"/>
          <p:cNvSpPr txBox="1"/>
          <p:nvPr/>
        </p:nvSpPr>
        <p:spPr>
          <a:xfrm>
            <a:off x="760792" y="440266"/>
            <a:ext cx="11607801" cy="101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1577876">
              <a:lnSpc>
                <a:spcPct val="80000"/>
              </a:lnSpc>
              <a:spcBef>
                <a:spcPts val="0"/>
              </a:spcBef>
              <a:defRPr b="1" spc="-109" sz="5460"/>
            </a:lvl1pPr>
          </a:lstStyle>
          <a:p>
            <a:pPr/>
            <a:r>
              <a:t>Displacement &amp; Force vs. Flow Rate</a:t>
            </a:r>
          </a:p>
        </p:txBody>
      </p:sp>
      <p:sp>
        <p:nvSpPr>
          <p:cNvPr id="257" name="(ODR) fit was applied to the force displacement data…"/>
          <p:cNvSpPr txBox="1"/>
          <p:nvPr/>
        </p:nvSpPr>
        <p:spPr>
          <a:xfrm>
            <a:off x="931396" y="3008872"/>
            <a:ext cx="4492422" cy="507385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381000" indent="-381000">
              <a:buSzPct val="123000"/>
              <a:buChar char="•"/>
            </a:pPr>
            <a:r>
              <a:t>(ODR) fit was applied to the force displacement data</a:t>
            </a:r>
          </a:p>
          <a:p>
            <a:pPr marL="381000" indent="-381000">
              <a:buSzPct val="123000"/>
              <a:buChar char="•"/>
            </a:pPr>
            <a:r>
              <a:t>1 sigma error band shown in red around ODR.</a:t>
            </a:r>
          </a:p>
          <a:p>
            <a:pPr marL="381000" indent="-381000">
              <a:buSzPct val="123000"/>
              <a:buChar char="•"/>
            </a:pPr>
            <a:r>
              <a:t>Displacement is ~ 2 μm and drag force is ~ 0.065 pN at the max flow rate ~ 140 uL/min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Conclusion"/>
          <p:cNvSpPr txBox="1"/>
          <p:nvPr/>
        </p:nvSpPr>
        <p:spPr>
          <a:xfrm>
            <a:off x="760792" y="1229478"/>
            <a:ext cx="11607801" cy="101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1716590">
              <a:lnSpc>
                <a:spcPct val="80000"/>
              </a:lnSpc>
              <a:spcBef>
                <a:spcPts val="0"/>
              </a:spcBef>
              <a:defRPr b="1" spc="-118" sz="5940"/>
            </a:lvl1pPr>
          </a:lstStyle>
          <a:p>
            <a:pPr/>
            <a:r>
              <a:t>Conclusion</a:t>
            </a:r>
          </a:p>
        </p:txBody>
      </p:sp>
      <p:sp>
        <p:nvSpPr>
          <p:cNvPr id="262" name="Successfully calibrated a single-beam optical trap using viscous drag from controlled flow rates…"/>
          <p:cNvSpPr txBox="1"/>
          <p:nvPr/>
        </p:nvSpPr>
        <p:spPr>
          <a:xfrm>
            <a:off x="1210875" y="3399647"/>
            <a:ext cx="12818250" cy="46551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381000" indent="-381000">
              <a:buSzPct val="123000"/>
              <a:buChar char="•"/>
            </a:pPr>
            <a:r>
              <a:t>Successfully calibrated a single-beam optical trap using viscous drag from controlled flow rates</a:t>
            </a:r>
          </a:p>
          <a:p>
            <a:pPr marL="381000" indent="-381000">
              <a:buSzPct val="123000"/>
              <a:buChar char="•"/>
            </a:pPr>
            <a:r>
              <a:t>Trap stiffness measured with the R^2 = 0.713; Confirmed Hookean behavior over 0 - 3 um displacement range</a:t>
            </a:r>
          </a:p>
          <a:p>
            <a:pPr marL="381000" indent="-381000">
              <a:buSzPct val="123000"/>
              <a:buChar char="•"/>
            </a:pPr>
            <a:r>
              <a:t>Maximum sustainable trapping force ~ 0.065pN, consistent with the laser power and NA used.</a:t>
            </a:r>
          </a:p>
          <a:p>
            <a:pPr marL="381000" indent="-381000">
              <a:buSzPct val="123000"/>
              <a:buChar char="•"/>
            </a:pPr>
            <a:r>
              <a:t>All data and analysis pipeline were all uploaded in the GitHub repository </a:t>
            </a:r>
            <a:r>
              <a:rPr u="sng">
                <a:hlinkClick r:id="rId2" invalidUrl="" action="" tgtFrame="" tooltip="" history="1" highlightClick="0" endSnd="0"/>
              </a:rPr>
              <a:t>https://github.com/Lemon-Elf/PHYS5318.gi</a:t>
            </a:r>
            <a:r>
              <a:rPr u="sng"/>
              <a:t>t;</a:t>
            </a:r>
            <a:r>
              <a:t> branch optical_tweezers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